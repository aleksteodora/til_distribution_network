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-485" y="-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Amperi (A)</c:v>
                </c:pt>
              </c:strCache>
            </c:strRef>
          </c:tx>
          <c:spPr>
            <a:solidFill>
              <a:srgbClr val="39D353"/>
            </a:solidFill>
            <a:effectLst/>
          </c:spPr>
          <c:dPt>
            <c:idx val="1"/>
            <c:spPr>
              <a:solidFill>
                <a:srgbClr val="E74C3C"/>
              </a:solidFill>
              <a:effectLst/>
            </c:spPr>
          </c:dPt>
          <c:dPt>
            <c:idx val="3"/>
            <c:spPr>
              <a:solidFill>
                <a:srgbClr val="00B4D8"/>
              </a:solidFill>
              <a:effectLst/>
            </c:spPr>
          </c:dPt>
          <c:dPt>
            <c:idx val="4"/>
            <c:spPr>
              <a:solidFill>
                <a:srgbClr val="00B4D8"/>
              </a:solidFill>
              <a:effectLst/>
            </c:spPr>
          </c:dPt>
          <c:dPt>
            <c:idx val="5"/>
            <c:spPr>
              <a:solidFill>
                <a:srgbClr val="00B4D8"/>
              </a:solidFill>
              <a:effectLst/>
            </c:spPr>
          </c:dPt>
          <c:cat>
            <c:strRef>
              <c:f>Sheet1!$A$2:$A$7</c:f>
              <c:strCache>
                <c:ptCount val="6"/>
                <c:pt idx="0">
                  <c:v>Lobito
Faza A</c:v>
                </c:pt>
                <c:pt idx="1">
                  <c:v>Lobito
Faza B</c:v>
                </c:pt>
                <c:pt idx="2">
                  <c:v>Lobito
Faza C</c:v>
                </c:pt>
                <c:pt idx="3">
                  <c:v>Empire
Faza A</c:v>
                </c:pt>
                <c:pt idx="4">
                  <c:v>Empire
Faza B</c:v>
                </c:pt>
                <c:pt idx="5">
                  <c:v>Empire
Faza 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</c:v>
                </c:pt>
                <c:pt idx="1">
                  <c:v>5071</c:v>
                </c:pt>
                <c:pt idx="2">
                  <c:v>65</c:v>
                </c:pt>
                <c:pt idx="3">
                  <c:v>245</c:v>
                </c:pt>
                <c:pt idx="4">
                  <c:v>257</c:v>
                </c:pt>
                <c:pt idx="5">
                  <c:v>307</c:v>
                </c:pt>
              </c:numCache>
            </c:numRef>
          </c:val>
        </c:ser>
        <c:axId val="160100352"/>
        <c:axId val="160101888"/>
      </c:barChart>
      <c:catAx>
        <c:axId val="160100352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160101888"/>
        <c:crosses val="autoZero"/>
        <c:auto val="1"/>
        <c:lblAlgn val="ctr"/>
        <c:lblOffset val="100"/>
        <c:noMultiLvlLbl val="1"/>
      </c:catAx>
      <c:valAx>
        <c:axId val="160101888"/>
        <c:scaling>
          <c:orientation val="minMax"/>
        </c:scaling>
        <c:axPos val="l"/>
        <c:majorGridlines>
          <c:spPr>
            <a:ln w="6350" cap="flat">
              <a:solidFill>
                <a:srgbClr val="1C233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160100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08709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Distribution Network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865909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TIL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i="1" dirty="0" smtClean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a grid full of uncertainty, we deliver visibility, </a:t>
            </a:r>
          </a:p>
          <a:p>
            <a:pPr algn="ctr"/>
            <a:r>
              <a:rPr lang="en-US" sz="2400" i="1" dirty="0" smtClean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control, and impact."</a:t>
            </a:r>
            <a:endParaRPr lang="en-US" sz="2400" dirty="0" smtClean="0"/>
          </a:p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i="1" dirty="0" err="1" smtClean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Inteligentna</a:t>
            </a:r>
            <a:r>
              <a:rPr lang="en-US" sz="1400" i="1" dirty="0" smtClean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 smtClean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dijagnostika</a:t>
            </a:r>
            <a:r>
              <a:rPr lang="en-US" sz="1400" i="1" dirty="0" smtClean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 smtClean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elektrodistributivne</a:t>
            </a:r>
            <a:r>
              <a:rPr lang="en-US" sz="1400" i="1" dirty="0" smtClean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 smtClean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mreže</a:t>
            </a:r>
            <a:endParaRPr lang="en-US" sz="1400" i="1" dirty="0" smtClean="0">
              <a:solidFill>
                <a:srgbClr val="39D35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25603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13,709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Trafo stanica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3611880"/>
            <a:ext cx="25603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9D3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26M+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8328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Mernih zapisa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611880"/>
            <a:ext cx="25603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5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5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70M+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Korisnika mreže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  •  Sotex Solutions </a:t>
            </a:r>
            <a:endParaRPr lang="en-US" sz="1000" dirty="0"/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54864"/>
            <a:ext cx="960120" cy="10758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Puno </a:t>
            </a:r>
            <a:r>
              <a:rPr lang="en-US" sz="2800" b="1" dirty="0" err="1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r>
              <a:rPr lang="en-US" sz="28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Nigerija  •  70M korisnika  •  sistem koji tek raste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</a:rPr>
              <a:t>🔍</a:t>
            </a:r>
          </a:p>
        </p:txBody>
      </p:sp>
      <p:sp>
        <p:nvSpPr>
          <p:cNvPr id="7" name="Text 5"/>
          <p:cNvSpPr/>
          <p:nvPr/>
        </p:nvSpPr>
        <p:spPr>
          <a:xfrm>
            <a:off x="1097280" y="12618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Slepe tačke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13,195 trafo stanica bez ikakvih podataka — 96% mreže je nevidljivo operaterima.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50292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5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4231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</a:rPr>
              <a:t>⚡</a:t>
            </a:r>
          </a:p>
        </p:txBody>
      </p:sp>
      <p:sp>
        <p:nvSpPr>
          <p:cNvPr id="11" name="Text 9"/>
          <p:cNvSpPr/>
          <p:nvPr/>
        </p:nvSpPr>
        <p:spPr>
          <a:xfrm>
            <a:off x="1097280" y="24505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Krađa struje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7889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Neravnoteža </a:t>
            </a:r>
            <a:r>
              <a:rPr lang="en-US" sz="11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ukazuje</a:t>
            </a:r>
            <a:r>
              <a:rPr lang="en-US" sz="1100" dirty="0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masovnu nedokumentovanu potrošnju.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50292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6118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</a:rPr>
              <a:t>📊</a:t>
            </a:r>
          </a:p>
        </p:txBody>
      </p:sp>
      <p:sp>
        <p:nvSpPr>
          <p:cNvPr id="15" name="Text 13"/>
          <p:cNvSpPr/>
          <p:nvPr/>
        </p:nvSpPr>
        <p:spPr>
          <a:xfrm>
            <a:off x="1097280" y="36393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Brzina upita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977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miliona </a:t>
            </a:r>
            <a:r>
              <a:rPr lang="en-US" sz="11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redova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direktni upiti </a:t>
            </a:r>
            <a:r>
              <a:rPr lang="en-US" sz="11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traju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</a:t>
            </a:r>
            <a:r>
              <a:rPr lang="en-US" sz="1100" dirty="0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je neupotrebljiv.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1097280"/>
            <a:ext cx="320040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 Nigerije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0" y="16916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🏙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7920" y="1709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Naselja rastu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1965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brzo i nekontrolisano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244144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🚁</a:t>
            </a:r>
          </a:p>
        </p:txBody>
      </p:sp>
      <p:sp>
        <p:nvSpPr>
          <p:cNvPr id="23" name="Text 21"/>
          <p:cNvSpPr/>
          <p:nvPr/>
        </p:nvSpPr>
        <p:spPr>
          <a:xfrm>
            <a:off x="6217920" y="2459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Podaci dronom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2715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tereni nepristupačni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319125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📈</a:t>
            </a:r>
          </a:p>
        </p:txBody>
      </p:sp>
      <p:sp>
        <p:nvSpPr>
          <p:cNvPr id="26" name="Text 24"/>
          <p:cNvSpPr/>
          <p:nvPr/>
        </p:nvSpPr>
        <p:spPr>
          <a:xfrm>
            <a:off x="6217920" y="3209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Industrijalizacija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465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ogromnim tempom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394106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⚠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17920" y="39593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Preopterećenje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4215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stvarni rizik po mrežu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Arial Black" pitchFamily="34" charset="0"/>
              </a:rPr>
              <a:t>Razumevanje</a:t>
            </a:r>
            <a:r>
              <a:rPr lang="en-US" sz="2800" b="1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Arial Black" pitchFamily="34" charset="0"/>
              </a:rPr>
              <a:t>sistema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Hijerarhija mreže — od generatora do vaše utičnice: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554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764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TransmissionStations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084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132kV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38528" y="1874520"/>
            <a:ext cx="146304" cy="45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1234440"/>
            <a:ext cx="1554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5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84832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5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84832" y="1764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Substations 33kV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84832" y="2084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visokonaponske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0" y="1874520"/>
            <a:ext cx="146304" cy="45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03904" y="1234440"/>
            <a:ext cx="1554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5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03904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5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03904" y="1764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Feeders 33kV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03904" y="2084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nema podataka ✗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76672" y="1874520"/>
            <a:ext cx="146304" cy="45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22976" y="1234440"/>
            <a:ext cx="1554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22976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D3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22976" y="1764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Feeders 11kV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22976" y="2084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435 šalje podatke ✅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95744" y="1874520"/>
            <a:ext cx="146304" cy="45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42048" y="1234440"/>
            <a:ext cx="1554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42048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13,709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42048" y="1764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Sub.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42048" y="2084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trafoi u ulicama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743200"/>
            <a:ext cx="84124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 smtClean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</a:t>
            </a:r>
            <a:r>
              <a:rPr lang="en-US" sz="1300" b="1" dirty="0" smtClean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</a:t>
            </a: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na 11kV?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3081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33kV feederi imaju merače ali NE šalju podatke. 11kV nivo ima merenja duž celog </a:t>
            </a:r>
            <a:r>
              <a:rPr lang="en-US" sz="11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toka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00" dirty="0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možemo videti gde tačno struja nestaje. Krađa se dešava na krajnjim trafovima, ne na dalekovodima.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520440"/>
            <a:ext cx="3931920" cy="1286884"/>
          </a:xfrm>
          <a:prstGeom prst="rect">
            <a:avLst/>
          </a:prstGeom>
          <a:solidFill>
            <a:srgbClr val="161B22"/>
          </a:solidFill>
          <a:ln w="12700">
            <a:solidFill>
              <a:srgbClr val="F4A5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Anatomija gubitaka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3931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Ulaz: 1,000 kWh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Mereno: 200 kWh (514 merača)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Mrtve zone: 800 kWh (13,195 bez podataka)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Tehnički gubici (normalno): 5–10%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Komercijalni gubici = krađa / neregistrovano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0" y="3520440"/>
            <a:ext cx="4206240" cy="1286884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09160" y="3566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Čišćenje podataka kroz SQL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09160" y="3931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Uočili smo anomalije i nepravilnosti u sirovim podacima.</a:t>
            </a: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Kreiranjem staging tabela kroz SQL upite, efektivno</a:t>
            </a: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 "prečistili" </a:t>
            </a:r>
            <a:r>
              <a:rPr lang="en-US" sz="1050" dirty="0" err="1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podatke</a:t>
            </a:r>
            <a:r>
              <a:rPr lang="en-US" sz="1050" dirty="0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dirty="0" err="1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050" dirty="0" err="1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</a:t>
            </a:r>
            <a:r>
              <a:rPr lang="en-US" sz="1050" dirty="0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validni, konzistentni</a:t>
            </a: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podaci dolaze do vizuelizacije.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Arhitektura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840480" cy="1920240"/>
          </a:xfrm>
          <a:prstGeom prst="rect">
            <a:avLst/>
          </a:prstGeom>
          <a:solidFill>
            <a:srgbClr val="1A0A0A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BEZ staging tabela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28016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zatraži podatke
→ FastAPI pita SQL Server
→ SQL skenira 26M redova
</a:t>
            </a:r>
            <a:r>
              <a:rPr lang="en-US" sz="1100" dirty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 err="1" smtClean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čekanje</a:t>
            </a:r>
            <a:r>
              <a:rPr lang="en-US" sz="1100" dirty="0" smtClean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r>
              <a:rPr lang="en-US" sz="1100" dirty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Odgovor: 2–3 MINUTE  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91456" y="822960"/>
            <a:ext cx="3840480" cy="1920240"/>
          </a:xfrm>
          <a:prstGeom prst="rect">
            <a:avLst/>
          </a:prstGeom>
          <a:solidFill>
            <a:srgbClr val="0A1A0A"/>
          </a:solidFill>
          <a:ln w="12700">
            <a:solidFill>
              <a:srgbClr val="39D35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6636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 staging tabelama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66360" y="128016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(svakih 5 min)
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Pokrene 4 stored procedure
→ One skeniraju 26M redova
→ Čuvaju 435–13k redova rezultata
</a:t>
            </a:r>
            <a:r>
              <a:rPr lang="en-US" sz="11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Frontend dobija odgovor: &lt;100ms  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33088" y="137160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" y="2834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Stored Procedure — srce sistema: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3291840"/>
            <a:ext cx="2011680" cy="1186031"/>
          </a:xfrm>
          <a:prstGeom prst="rect">
            <a:avLst/>
          </a:prstGeom>
          <a:solidFill>
            <a:srgbClr val="161B22"/>
          </a:solidFill>
          <a:ln w="12700">
            <a:solidFill>
              <a:srgbClr val="F4A5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291840"/>
            <a:ext cx="2011680" cy="54864"/>
          </a:xfrm>
          <a:prstGeom prst="rect">
            <a:avLst/>
          </a:prstGeom>
          <a:solidFill>
            <a:srgbClr val="F4A522"/>
          </a:solidFill>
          <a:ln w="12700">
            <a:solidFill>
              <a:srgbClr val="F4A5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3649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TheftSuspects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82219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Neravnoteža faza po trafo stanici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87168" y="3291840"/>
            <a:ext cx="2011680" cy="1186031"/>
          </a:xfrm>
          <a:prstGeom prst="rect">
            <a:avLst/>
          </a:prstGeom>
          <a:solidFill>
            <a:srgbClr val="161B22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87168" y="3291840"/>
            <a:ext cx="201168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87168" y="33649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DeadZones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78608" y="382219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Trafo bez merača ili podataka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0016" y="3291840"/>
            <a:ext cx="2011680" cy="1186031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0016" y="3291840"/>
            <a:ext cx="2011680" cy="5486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33649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FeederStatus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91456" y="382219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feedera → boja na mapi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12864" y="3291840"/>
            <a:ext cx="2011680" cy="1186031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12864" y="3291840"/>
            <a:ext cx="2011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12864" y="33649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Timeseries24h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04304" y="382219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tačke po satu za grafikon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622292"/>
            <a:ext cx="8595360" cy="301752"/>
          </a:xfrm>
          <a:prstGeom prst="rect">
            <a:avLst/>
          </a:prstGeom>
          <a:solidFill>
            <a:srgbClr val="1C233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6497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Teški posao jednom u pozadini — frontend uvek čita već izračunat rezultat. Za razliku od in-memory struktura (Bloom filter, LSM stablo), ovo skalira direktno sa bazom.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procedura rešava jedan konkretan problem. Svakih 5 minuta se osvežavaju. Frontend nikada ne čeka — čita gotov rezultat.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420624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5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4206240" cy="54864"/>
          </a:xfrm>
          <a:prstGeom prst="rect">
            <a:avLst/>
          </a:prstGeom>
          <a:solidFill>
            <a:srgbClr val="F4A522"/>
          </a:solidFill>
          <a:ln w="12700">
            <a:solidFill>
              <a:srgbClr val="F4A5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TheftSuspects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radi: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7099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Uzima prosek struje svake faze (A, B, C) po trafo stanici iz poslednjih merenja. Računa imbalance = (MAX_faza − MIN_faza) / AVG_sve_faze × 100%.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4871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trafo stanica sa imbalance &gt;30% → direktno na mapu kao SUSPECTED_THEFT. Primer: Lobito Mall, faza B = 5071A vs faza A = 49A → 290% → HIGH risk.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024128"/>
            <a:ext cx="420624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24128"/>
            <a:ext cx="420624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 DeadZones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5087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radi: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17099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Joinuje tabelu DistributionSubstations sa Meters i MeterReads. Proverava: da li MeterId postoji? Da li ima ijedan red u MeterReads za taj merač?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22860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24871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trafo stanica dobija status: NO_METER (nikad instaliran), DEAD_METER (merač postoji, nema podataka) ili AKTIVAN. 13,195 mrtvih zona sada su vidljive na mapi.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3017520"/>
            <a:ext cx="420624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017520"/>
            <a:ext cx="4206240" cy="5486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08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</a:t>
            </a: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FeederStatus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35021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radi: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7033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Agregira podatke svih trafo stanica na jednom feederu. Računa prosek napona, prosek struje, % aktivnih merača i ukupni load vs kapacitet (NameplateRating).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2793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480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od 435 feedera dobija jedan status i boju: OK (zelena), HIGH_LOAD / THEFT (narandžasta), VOLTAGE_DROP ili OVERLOADED (crvena), OFFLINE (siva).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3017520"/>
            <a:ext cx="420624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017520"/>
            <a:ext cx="4206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108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Timeseries24h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35021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radi: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7033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Grupiše MeterReads po satu za poslednjih 24h, uzima prosečnu struju faze A po feederu. Filtrira samo validne kanale i merače sa podacima.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42793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4480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tačke po feederu (jedna po satu) — direktno u grafikon u donjem levom uglu aplikacije. Vidimo kada potrošnja skače i da li postoji noćni anomaly.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Šta</a:t>
            </a:r>
            <a:r>
              <a:rPr lang="en-US" sz="30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operater vidi?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976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2296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🗺️</a:t>
            </a:r>
          </a:p>
        </p:txBody>
      </p:sp>
      <p:sp>
        <p:nvSpPr>
          <p:cNvPr id="6" name="Text 4"/>
          <p:cNvSpPr/>
          <p:nvPr/>
        </p:nvSpPr>
        <p:spPr>
          <a:xfrm>
            <a:off x="1005840" y="868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Interaktivna mapa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feeder obojen po statusu: zelena=OK, narandžasta=High load/Theft, crvena=Overloaded, siva=Offline. </a:t>
            </a:r>
            <a:r>
              <a:rPr lang="en-US" sz="1000" dirty="0" err="1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Klikom</a:t>
            </a:r>
            <a:r>
              <a:rPr lang="en-US" sz="1000" dirty="0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000" dirty="0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čvor</a:t>
            </a:r>
            <a:r>
              <a:rPr lang="en-US" sz="1000" dirty="0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dobija</a:t>
            </a:r>
            <a:r>
              <a:rPr lang="en-US" sz="1000" dirty="0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detalje</a:t>
            </a:r>
            <a:r>
              <a:rPr lang="en-US" sz="1000" dirty="0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odmah.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42976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5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8288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🔴</a:t>
            </a:r>
          </a:p>
        </p:txBody>
      </p:sp>
      <p:sp>
        <p:nvSpPr>
          <p:cNvPr id="10" name="Text 8"/>
          <p:cNvSpPr/>
          <p:nvPr/>
        </p:nvSpPr>
        <p:spPr>
          <a:xfrm>
            <a:off x="1005840" y="18745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Detekcija krađe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1762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&gt;30% = automatski SUSPECTED_THEFT. Primer: Nigerian Finance Building Police — imbalance 195.9%, HIGH risk.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16352"/>
            <a:ext cx="42976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8346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💀</a:t>
            </a:r>
          </a:p>
        </p:txBody>
      </p:sp>
      <p:sp>
        <p:nvSpPr>
          <p:cNvPr id="14" name="Text 12"/>
          <p:cNvSpPr/>
          <p:nvPr/>
        </p:nvSpPr>
        <p:spPr>
          <a:xfrm>
            <a:off x="1005840" y="2880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Zones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1821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13,195 trafoa bez podataka. NO_METER (nikad imao) vs DEAD_METER (ima merač, nema podataka).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822192"/>
            <a:ext cx="42976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8404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📈</a:t>
            </a:r>
          </a:p>
        </p:txBody>
      </p:sp>
      <p:sp>
        <p:nvSpPr>
          <p:cNvPr id="18" name="Text 16"/>
          <p:cNvSpPr/>
          <p:nvPr/>
        </p:nvSpPr>
        <p:spPr>
          <a:xfrm>
            <a:off x="1005840" y="3886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Grafikon 24h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1879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Vremenski niz po </a:t>
            </a:r>
            <a:r>
              <a:rPr lang="en-US" sz="10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</a:t>
            </a: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000" dirty="0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</a:t>
            </a:r>
            <a:r>
              <a:rPr lang="en-US" sz="1000" dirty="0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vidimo trendove potrošnje i anomalije u </a:t>
            </a:r>
            <a:r>
              <a:rPr lang="en-US" sz="10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realnom</a:t>
            </a: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vremenu</a:t>
            </a:r>
            <a:r>
              <a:rPr lang="en-US" sz="1000" dirty="0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777240"/>
            <a:ext cx="4114800" cy="4160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C233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868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METRICS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280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FEEDERS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 / 435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92040" y="1847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2075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6,430.9 MW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92040" y="24140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2642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5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329,458.4 %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92040" y="29809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ZONES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3209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94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13,195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892040" y="3547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 SUSPECTS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3776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892040" y="4114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FEEDERS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339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74320" y="4754880"/>
            <a:ext cx="8595360" cy="301752"/>
          </a:xfrm>
          <a:prstGeom prst="rect">
            <a:avLst/>
          </a:prstGeom>
          <a:solidFill>
            <a:srgbClr val="1C2330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</a:t>
            </a:r>
            <a:r>
              <a:rPr lang="en-US" sz="1000" dirty="0" err="1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Vizuelno</a:t>
            </a:r>
            <a:r>
              <a:rPr lang="en-US" sz="1000" dirty="0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rešenje je univerzalno — svaki operater, bez obzira na starost i tehničko predznanje, odmah razume stanje mreže bez čitanja tabela.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522"/>
          </a:solidFill>
          <a:ln w="12700">
            <a:solidFill>
              <a:srgbClr val="F4A5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Detekcija anomalija — kako sistem zaključuje?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2788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5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86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</a:t>
            </a:r>
            <a:r>
              <a:rPr lang="en-US" sz="1300" b="1" dirty="0" err="1" smtClean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feedera</a:t>
            </a:r>
            <a:r>
              <a:rPr lang="en-US" sz="1300" b="1" dirty="0" smtClean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b="1" dirty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pravila bojenja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OFFLINE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aktivnih merača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VOLTAGE_DROP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AvgVolt &lt; 18,000V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SUSPECTED_THEFT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240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&gt; 30%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OVERLOADED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Struja &gt; 90% kapaciteta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OK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u redu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749040"/>
            <a:ext cx="3931920" cy="1005840"/>
          </a:xfrm>
          <a:prstGeom prst="rect">
            <a:avLst/>
          </a:prstGeom>
          <a:solidFill>
            <a:srgbClr val="1A1000"/>
          </a:solidFill>
          <a:ln w="12700">
            <a:solidFill>
              <a:srgbClr val="F4A5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822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— LOBITO MALL: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114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FazaA=49A  FazaB=5071A  FazaC=65A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= (5071−49) / 1728 × 100 = 290%  →  HIGH 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822960"/>
            <a:ext cx="429768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8869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Neravnoteža</a:t>
            </a: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</a:t>
            </a:r>
            <a:r>
              <a:rPr lang="en-US" sz="1300" b="1" dirty="0" smtClean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vizuelno</a:t>
            </a:r>
            <a:endParaRPr lang="en-US" sz="13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572000" y="1234440"/>
          <a:ext cx="429768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4572000" y="3154680"/>
            <a:ext cx="429768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709160" y="32186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Zone kategorije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709160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NO_METER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675120" y="363931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Nikad imao merač — potpuno slepа tačka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70916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DEAD_METER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675120" y="40233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 merač, nema podataka — kvar ili krađa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709160" y="44074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AKTIVAN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675120" y="44074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Merač radi i šalje podatke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Skalabilnost i predviđanje ponašanja mreže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naša rešenja </a:t>
            </a:r>
            <a:r>
              <a:rPr lang="en-US" sz="13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predviđaju</a:t>
            </a: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69748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</a:rPr>
              <a:t>📈</a:t>
            </a:r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potrošnje (24h)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Grafikon potrošnje po satu otkriva obrasce — ako struja raste brže od kapaciteta, sistem upozorava BEFORE nego što osigurač iskočí.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1188720"/>
            <a:ext cx="269748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5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18688" y="1234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 smtClean="0">
                <a:solidFill>
                  <a:schemeClr val="bg1"/>
                </a:solidFill>
              </a:rPr>
              <a:t>🏘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310128" y="18745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 naselja = rast opterećenja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224028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Tereni se šire nekontrolisano. Trafoi s visokim Load% i OVERLOADED statusom ukazuju gde treba nova infrastruktura PRE pada sistema.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188720"/>
            <a:ext cx="269748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63056" y="1234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 smtClean="0">
                <a:solidFill>
                  <a:schemeClr val="bg1"/>
                </a:solidFill>
              </a:rPr>
              <a:t>⚖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54496" y="18745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trend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4496" y="224028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neravnoteža raste iz meseca u mesec, to nije </a:t>
            </a:r>
            <a:r>
              <a:rPr lang="en-US" sz="10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slučajno</a:t>
            </a: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već</a:t>
            </a:r>
            <a:r>
              <a:rPr lang="en-US" sz="1000" dirty="0" smtClean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signal sistemske krađe ili nelegalnog priključenja novih korisnika.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401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sistem raste zajedno sa mrežom: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794760"/>
            <a:ext cx="20116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858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Real-time podaci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87168" y="3794760"/>
            <a:ext cx="20116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78608" y="3858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Više mreža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78608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SQL arhitektura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0016" y="3794760"/>
            <a:ext cx="20116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91456" y="3858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predikcija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91456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na Timeseries24h podacima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12864" y="3794760"/>
            <a:ext cx="20116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004304" y="3858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🚁  Dron integracija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04304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+ nove koordinate automatski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05971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 smtClean="0">
                <a:solidFill>
                  <a:srgbClr val="FFFFFF"/>
                </a:solidFill>
                <a:latin typeface="Arial Black" pitchFamily="34" charset="0"/>
              </a:rPr>
              <a:t>Za</a:t>
            </a:r>
            <a:r>
              <a:rPr lang="en-US" sz="3200" b="1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  <a:latin typeface="Arial Black" pitchFamily="34" charset="0"/>
              </a:rPr>
              <a:t>kraj</a:t>
            </a:r>
            <a:r>
              <a:rPr lang="en-US" sz="3200" b="1" dirty="0" smtClean="0">
                <a:solidFill>
                  <a:srgbClr val="FFFFFF"/>
                </a:solidFill>
                <a:latin typeface="Arial Black" pitchFamily="34" charset="0"/>
              </a:rPr>
              <a:t> ..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228850"/>
            <a:ext cx="55738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 smtClean="0">
                <a:solidFill>
                  <a:schemeClr val="bg1">
                    <a:lumMod val="85000"/>
                  </a:schemeClr>
                </a:solidFill>
              </a:rPr>
              <a:t>“The </a:t>
            </a:r>
            <a:r>
              <a:rPr lang="en-US" sz="2000" i="1" dirty="0" smtClean="0">
                <a:solidFill>
                  <a:schemeClr val="bg1">
                    <a:lumMod val="85000"/>
                  </a:schemeClr>
                </a:solidFill>
              </a:rPr>
              <a:t>most important property of a program is whether it accomplishes the intention of its user.”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/>
            </a:r>
            <a:b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— C. A. R. Hoare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26272" y="1876537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6"/>
                </a:solidFill>
              </a:rPr>
              <a:t>🔍</a:t>
            </a:r>
          </a:p>
        </p:txBody>
      </p:sp>
      <p:pic>
        <p:nvPicPr>
          <p:cNvPr id="31" name="Picture 30" descr="download.jf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718" y="1428079"/>
            <a:ext cx="2006973" cy="20069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1038</Words>
  <Application>Microsoft Office PowerPoint</Application>
  <PresentationFormat>On-screen Show (16:9)</PresentationFormat>
  <Paragraphs>184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Korisnik</cp:lastModifiedBy>
  <cp:revision>8</cp:revision>
  <dcterms:created xsi:type="dcterms:W3CDTF">2026-04-18T22:36:00Z</dcterms:created>
  <dcterms:modified xsi:type="dcterms:W3CDTF">2026-04-19T06:10:29Z</dcterms:modified>
</cp:coreProperties>
</file>